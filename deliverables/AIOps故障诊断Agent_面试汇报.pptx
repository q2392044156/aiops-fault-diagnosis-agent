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c9d554734f415d" /><Relationship Type="http://schemas.openxmlformats.org/officeDocument/2006/relationships/extended-properties" Target="/docProps/app.xml" Id="R222c0a1626c947d9" /><Relationship Type="http://schemas.openxmlformats.org/officeDocument/2006/relationships/officeDocument" Target="/ppt/presentation.xml" Id="R091ae22d27d545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118fb149674aa6"/>
  </p:sldMasterIdLst>
  <p:notesMasterIdLst>
    <p:notesMasterId xmlns:r="http://schemas.openxmlformats.org/officeDocument/2006/relationships" r:id="R59e5598ce7e94434"/>
  </p:notesMasterIdLst>
  <p:sldIdLst>
    <p:sldId xmlns:r="http://schemas.openxmlformats.org/officeDocument/2006/relationships" id="256" r:id="R7605f24c049d4966"/>
    <p:sldId xmlns:r="http://schemas.openxmlformats.org/officeDocument/2006/relationships" id="257" r:id="R905e2873de0d4937"/>
    <p:sldId xmlns:r="http://schemas.openxmlformats.org/officeDocument/2006/relationships" id="258" r:id="Rbcb798820430485f"/>
    <p:sldId xmlns:r="http://schemas.openxmlformats.org/officeDocument/2006/relationships" id="259" r:id="R02b4cb8c94004ad4"/>
    <p:sldId xmlns:r="http://schemas.openxmlformats.org/officeDocument/2006/relationships" id="260" r:id="R210a750ed16d4acf"/>
    <p:sldId xmlns:r="http://schemas.openxmlformats.org/officeDocument/2006/relationships" id="261" r:id="Raeee8d7cbd9c4583"/>
    <p:sldId xmlns:r="http://schemas.openxmlformats.org/officeDocument/2006/relationships" id="262" r:id="R765b7d24ce284f6c"/>
    <p:sldId xmlns:r="http://schemas.openxmlformats.org/officeDocument/2006/relationships" id="263" r:id="R008d68ed1da048bf"/>
    <p:sldId xmlns:r="http://schemas.openxmlformats.org/officeDocument/2006/relationships" id="264" r:id="R96b62273529a4498"/>
    <p:sldId xmlns:r="http://schemas.openxmlformats.org/officeDocument/2006/relationships" id="265" r:id="R78191040ffd94350"/>
    <p:sldId xmlns:r="http://schemas.openxmlformats.org/officeDocument/2006/relationships" id="266" r:id="R9e7aceac902f4a1e"/>
    <p:sldId xmlns:r="http://schemas.openxmlformats.org/officeDocument/2006/relationships" id="267" r:id="R6419ea23449c44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7d402a51114012" /><Relationship Type="http://schemas.openxmlformats.org/officeDocument/2006/relationships/slideMaster" Target="/ppt/slideMasters/slideMaster1.xml" Id="R72118fb149674aa6" /><Relationship Type="http://schemas.openxmlformats.org/officeDocument/2006/relationships/notesMaster" Target="/ppt/notesMasters/notesMaster1.xml" Id="R59e5598ce7e94434" /><Relationship Type="http://schemas.openxmlformats.org/officeDocument/2006/relationships/presProps" Target="/ppt/presProps.xml" Id="R844c4dd238094e9a" /><Relationship Type="http://schemas.openxmlformats.org/officeDocument/2006/relationships/tableStyles" Target="/ppt/tableStyles.xml" Id="R834ce26844ad415c" /><Relationship Type="http://schemas.openxmlformats.org/officeDocument/2006/relationships/slide" Target="/ppt/slides/slide1.xml" Id="R7605f24c049d4966" /><Relationship Type="http://schemas.openxmlformats.org/officeDocument/2006/relationships/slide" Target="/ppt/slides/slide2.xml" Id="R905e2873de0d4937" /><Relationship Type="http://schemas.openxmlformats.org/officeDocument/2006/relationships/slide" Target="/ppt/slides/slide3.xml" Id="Rbcb798820430485f" /><Relationship Type="http://schemas.openxmlformats.org/officeDocument/2006/relationships/slide" Target="/ppt/slides/slide4.xml" Id="R02b4cb8c94004ad4" /><Relationship Type="http://schemas.openxmlformats.org/officeDocument/2006/relationships/slide" Target="/ppt/slides/slide5.xml" Id="R210a750ed16d4acf" /><Relationship Type="http://schemas.openxmlformats.org/officeDocument/2006/relationships/slide" Target="/ppt/slides/slide6.xml" Id="Raeee8d7cbd9c4583" /><Relationship Type="http://schemas.openxmlformats.org/officeDocument/2006/relationships/slide" Target="/ppt/slides/slide7.xml" Id="R765b7d24ce284f6c" /><Relationship Type="http://schemas.openxmlformats.org/officeDocument/2006/relationships/slide" Target="/ppt/slides/slide8.xml" Id="R008d68ed1da048bf" /><Relationship Type="http://schemas.openxmlformats.org/officeDocument/2006/relationships/slide" Target="/ppt/slides/slide9.xml" Id="R96b62273529a4498" /><Relationship Type="http://schemas.openxmlformats.org/officeDocument/2006/relationships/slide" Target="/ppt/slides/slide10.xml" Id="R78191040ffd94350" /><Relationship Type="http://schemas.openxmlformats.org/officeDocument/2006/relationships/slide" Target="/ppt/slides/slide11.xml" Id="R9e7aceac902f4a1e" /><Relationship Type="http://schemas.openxmlformats.org/officeDocument/2006/relationships/slide" Target="/ppt/slides/slide12.xml" Id="R6419ea23449c44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5fa0d5f81449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5d024ba7e24ab8" /><Relationship Type="http://schemas.openxmlformats.org/officeDocument/2006/relationships/notesMaster" Target="/ppt/notesMasters/notesMaster1.xml" Id="Rce41ebd1011645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de9ff5a8224287" /><Relationship Type="http://schemas.openxmlformats.org/officeDocument/2006/relationships/notesMaster" Target="/ppt/notesMasters/notesMaster1.xml" Id="R66ff43f10a1f4f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25536ff10348e8" /><Relationship Type="http://schemas.openxmlformats.org/officeDocument/2006/relationships/notesMaster" Target="/ppt/notesMasters/notesMaster1.xml" Id="Rf9c1b81f04b244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ed40df89104b6a" /><Relationship Type="http://schemas.openxmlformats.org/officeDocument/2006/relationships/notesMaster" Target="/ppt/notesMasters/notesMaster1.xml" Id="R9586d513c45043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57651671d24acb" /><Relationship Type="http://schemas.openxmlformats.org/officeDocument/2006/relationships/notesMaster" Target="/ppt/notesMasters/notesMaster1.xml" Id="R03b319e2008d4a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5a67266135482a" /><Relationship Type="http://schemas.openxmlformats.org/officeDocument/2006/relationships/notesMaster" Target="/ppt/notesMasters/notesMaster1.xml" Id="Rc2be78cb4c024e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77f4f54ff54a94" /><Relationship Type="http://schemas.openxmlformats.org/officeDocument/2006/relationships/notesMaster" Target="/ppt/notesMasters/notesMaster1.xml" Id="Re8e923a564204d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7f72cabae04917" /><Relationship Type="http://schemas.openxmlformats.org/officeDocument/2006/relationships/notesMaster" Target="/ppt/notesMasters/notesMaster1.xml" Id="Rc385f3802da840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03eee4efff40c8" /><Relationship Type="http://schemas.openxmlformats.org/officeDocument/2006/relationships/notesMaster" Target="/ppt/notesMasters/notesMaster1.xml" Id="Ra4399527519e46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4877cf7c694547" /><Relationship Type="http://schemas.openxmlformats.org/officeDocument/2006/relationships/notesMaster" Target="/ppt/notesMasters/notesMaster1.xml" Id="R33c4ecdc2d6040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72cc12e0ca4c6d" /><Relationship Type="http://schemas.openxmlformats.org/officeDocument/2006/relationships/notesMaster" Target="/ppt/notesMasters/notesMaster1.xml" Id="R17d7f0a396424c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c0c936aba74351" /><Relationship Type="http://schemas.openxmlformats.org/officeDocument/2006/relationships/notesMaster" Target="/ppt/notesMasters/notesMaster1.xml" Id="R12da4ca0ecd143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4848563dd64a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28253727bb429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529a51239e4a2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0a1b67207e429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549cbb29784ce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835896157641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3F20C9-4954-426E-AA85-8D863C92B3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D6428A4-3433-43F6-B067-5188F769A0C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FB4A590-F6D7-4FFE-9FD6-D417A0DF36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1CF299-56FE-4E93-B2AD-1FD191AC70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D67BC02-0B71-49A7-8E63-5537C5EDC1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C4508B1-F4E1-4473-850D-323D5D401F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48AFD9-0356-49EC-8F3C-569A2F1099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0DF4E1C-39D7-4CA5-8E05-976AAB44826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8DB1AD-1CAC-4EA9-8CF6-1135411010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7611526-434C-49FA-B628-6F675B6E53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72b185483e4933" /><Relationship Type="http://schemas.openxmlformats.org/officeDocument/2006/relationships/slideLayout" Target="/ppt/slideLayouts/slideLayout1.xml" Id="R03a7e5ee210a46b8" /><Relationship Type="http://schemas.openxmlformats.org/officeDocument/2006/relationships/slideLayout" Target="/ppt/slideLayouts/slideLayout2.xml" Id="Rbb9a85e3e0184faf" /><Relationship Type="http://schemas.openxmlformats.org/officeDocument/2006/relationships/slideLayout" Target="/ppt/slideLayouts/slideLayout3.xml" Id="R27008b462ebd4a70" /><Relationship Type="http://schemas.openxmlformats.org/officeDocument/2006/relationships/slideLayout" Target="/ppt/slideLayouts/slideLayout4.xml" Id="R556f2c1b97ef4753" /><Relationship Type="http://schemas.openxmlformats.org/officeDocument/2006/relationships/slideLayout" Target="/ppt/slideLayouts/slideLayout5.xml" Id="R017a23b9aab14a3b" /><Relationship Type="http://schemas.openxmlformats.org/officeDocument/2006/relationships/slideLayout" Target="/ppt/slideLayouts/slideLayout6.xml" Id="Rb22acb2e3b3b4a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a7e5ee210a46b8"/>
    <p:sldLayoutId xmlns:r="http://schemas.openxmlformats.org/officeDocument/2006/relationships" id="2147483650" r:id="Rbb9a85e3e0184faf"/>
    <p:sldLayoutId xmlns:r="http://schemas.openxmlformats.org/officeDocument/2006/relationships" id="2147483651" r:id="R27008b462ebd4a70"/>
    <p:sldLayoutId xmlns:r="http://schemas.openxmlformats.org/officeDocument/2006/relationships" id="2147483652" r:id="R556f2c1b97ef4753"/>
    <p:sldLayoutId xmlns:r="http://schemas.openxmlformats.org/officeDocument/2006/relationships" id="2147483653" r:id="R017a23b9aab14a3b"/>
    <p:sldLayoutId xmlns:r="http://schemas.openxmlformats.org/officeDocument/2006/relationships" id="2147483654" r:id="Rb22acb2e3b3b4a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7ce4b05e034397" /><Relationship Type="http://schemas.openxmlformats.org/officeDocument/2006/relationships/notesSlide" Target="/ppt/notesSlides/notesSlide1.xml" Id="R9e8b2c6e7c2148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e5651c17df413f" /><Relationship Type="http://schemas.openxmlformats.org/officeDocument/2006/relationships/notesSlide" Target="/ppt/notesSlides/notesSlide2.xml" Id="Rf091535a097340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bb529db7dc4b68" /><Relationship Type="http://schemas.openxmlformats.org/officeDocument/2006/relationships/notesSlide" Target="/ppt/notesSlides/notesSlide3.xml" Id="Rb8013a4d5e4e4c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f662827df1470d" /><Relationship Type="http://schemas.openxmlformats.org/officeDocument/2006/relationships/chart" Target="/ppt/slides/charts/chart1.xml" Id="Rff275bb8388f4a1d" /><Relationship Type="http://schemas.openxmlformats.org/officeDocument/2006/relationships/notesSlide" Target="/ppt/notesSlides/notesSlide4.xml" Id="R16b2bc4364a54a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2999d78aef4f26" /><Relationship Type="http://schemas.openxmlformats.org/officeDocument/2006/relationships/notesSlide" Target="/ppt/notesSlides/notesSlide5.xml" Id="R5f5ca6f4493840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84c04e54c84a1c" /><Relationship Type="http://schemas.openxmlformats.org/officeDocument/2006/relationships/notesSlide" Target="/ppt/notesSlides/notesSlide6.xml" Id="R7eb242f15f1941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57758efff74bb3" /><Relationship Type="http://schemas.openxmlformats.org/officeDocument/2006/relationships/notesSlide" Target="/ppt/notesSlides/notesSlide7.xml" Id="R7494ce7f74e242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770f5b1b45452b" /><Relationship Type="http://schemas.openxmlformats.org/officeDocument/2006/relationships/notesSlide" Target="/ppt/notesSlides/notesSlide8.xml" Id="R70b5aa58e80640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61a51dccae4955" /><Relationship Type="http://schemas.openxmlformats.org/officeDocument/2006/relationships/chart" Target="/ppt/slides/charts/chart2.xml" Id="R5c4693c77c5e499b" /><Relationship Type="http://schemas.openxmlformats.org/officeDocument/2006/relationships/notesSlide" Target="/ppt/notesSlides/notesSlide9.xml" Id="R3518a9ae32d548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9872e25a724d28" /><Relationship Type="http://schemas.openxmlformats.org/officeDocument/2006/relationships/notesSlide" Target="/ppt/notesSlides/notesSlide10.xml" Id="R0ccddaa5899741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4412e44aab4194" /><Relationship Type="http://schemas.openxmlformats.org/officeDocument/2006/relationships/notesSlide" Target="/ppt/notesSlides/notesSlide11.xml" Id="Rcd715ad31a404f3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f6a215b9504d5b" /><Relationship Type="http://schemas.openxmlformats.org/officeDocument/2006/relationships/notesSlide" Target="/ppt/notesSlides/notesSlide12.xml" Id="Rb82d14c4f4854fa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F1</c:v>
          </c:tx>
          <c:spPr>
            <a:solidFill xmlns:a="http://schemas.openxmlformats.org/drawingml/2006/main">
              <a:srgbClr val="12B8A6"/>
            </a:solidFill>
          </c:spPr>
          <c:invertIfNegative val="0"/>
          <c:cat>
            <c:strLit>
              <c:ptCount val="2"/>
              <c:pt idx="0">
                <c:v>TF-IDF + LR</c:v>
              </c:pt>
              <c:pt idx="1">
                <c:v>LSTM 均值</c:v>
              </c:pt>
            </c:strLit>
          </c:cat>
          <c:val>
            <c:numLit>
              <c:formatCode>0.00</c:formatCode>
              <c:ptCount val="2"/>
              <c:pt idx="0">
                <c:v>0.883181</c:v>
              </c:pt>
              <c:pt idx="1">
                <c:v>0.883363</c:v>
              </c:pt>
            </c:numLit>
          </c:val>
        </c:ser>
        <c:ser>
          <c:idx val="1"/>
          <c:order val="1"/>
          <c:tx>
            <c:v>AP</c:v>
          </c:tx>
          <c:spPr>
            <a:solidFill xmlns:a="http://schemas.openxmlformats.org/drawingml/2006/main">
              <a:srgbClr val="3D8BFF"/>
            </a:solidFill>
          </c:spPr>
          <c:invertIfNegative val="0"/>
          <c:cat>
            <c:strLit>
              <c:ptCount val="2"/>
              <c:pt idx="0">
                <c:v>TF-IDF + LR</c:v>
              </c:pt>
              <c:pt idx="1">
                <c:v>LSTM 均值</c:v>
              </c:pt>
            </c:strLit>
          </c:cat>
          <c:val>
            <c:numLit>
              <c:formatCode>0.00</c:formatCode>
              <c:ptCount val="2"/>
              <c:pt idx="0">
                <c:v>0.789731</c:v>
              </c:pt>
              <c:pt idx="1">
                <c:v>0.974166</c:v>
              </c:pt>
            </c:numLit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3223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7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EA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23344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8E1EA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Schema 通过率</c:v>
          </c:tx>
          <c:spPr>
            <a:solidFill xmlns:a="http://schemas.openxmlformats.org/drawingml/2006/main">
              <a:srgbClr val="3D8BFF"/>
            </a:solidFill>
          </c:spPr>
          <c:invertIfNegative val="0"/>
          <c:cat>
            <c:strLit>
              <c:ptCount val="3"/>
              <c:pt idx="0">
                <c:v>第 1 轮</c:v>
              </c:pt>
              <c:pt idx="1">
                <c:v>第 2 轮</c:v>
              </c:pt>
              <c:pt idx="2">
                <c:v>第 3 轮</c:v>
              </c:pt>
            </c:strLit>
          </c:cat>
          <c:val>
            <c:numLit>
              <c:formatCode>0%</c:formatCode>
              <c:ptCount val="3"/>
              <c:pt idx="0">
                <c:v>0.8</c:v>
              </c:pt>
              <c:pt idx="1">
                <c:v>1</c:v>
              </c:pt>
              <c:pt idx="2">
                <c:v>1</c:v>
              </c:pt>
            </c:numLit>
          </c:val>
        </c:ser>
        <c:ser>
          <c:idx val="1"/>
          <c:order val="1"/>
          <c:tx>
            <c:v>模板降级率</c:v>
          </c:tx>
          <c:spPr>
            <a:solidFill xmlns:a="http://schemas.openxmlformats.org/drawingml/2006/main">
              <a:srgbClr val="F6A43A"/>
            </a:solidFill>
          </c:spPr>
          <c:invertIfNegative val="0"/>
          <c:cat>
            <c:strLit>
              <c:ptCount val="3"/>
              <c:pt idx="0">
                <c:v>第 1 轮</c:v>
              </c:pt>
              <c:pt idx="1">
                <c:v>第 2 轮</c:v>
              </c:pt>
              <c:pt idx="2">
                <c:v>第 3 轮</c:v>
              </c:pt>
            </c:strLit>
          </c:cat>
          <c:val>
            <c:numLit>
              <c:formatCode>0%</c:formatCode>
              <c:ptCount val="3"/>
              <c:pt idx="0">
                <c:v>0.2</c:v>
              </c:pt>
              <c:pt idx="1">
                <c:v>0</c:v>
              </c:pt>
              <c:pt idx="2">
                <c:v>0</c:v>
              </c:pt>
            </c:numLit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3223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EA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23344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8E1EA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9EF01-A6EC-4C01-A272-52B6FEE4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6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0E7E6-939E-42E4-98AF-10474DC4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287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AIOps 故障诊断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A0404-F4F2-43FD-849D-F96048E8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336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rPr>
              <a:t>从可复现日志建模到受控 Agent 的 v1.0 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9D0E0-5664-41DA-8389-D982C04B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rPr>
              <a:t>技术面试汇报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084B8-BCB8-46DF-A059-F3205157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4335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11,175,629 行日志     40 例 × 3 次在线评测     100 项测试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43F86-381E-47BB-8B2C-E9436BB3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816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8EA2B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8EA2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EA2B7"/>
                </a:solidFill>
                <a:latin typeface="Microsoft YaHei"/>
                <a:ea typeface="Microsoft YaHei"/>
                <a:cs typeface="Microsoft YaHei"/>
              </a:rPr>
              <a:t>v1.0 · 默认模型 v0.2_lr · 只读诊断与人工复核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F90A6-C68B-435B-B108-DB4C02AD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816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rPr>
              <a:t>2026.10</a:t>
            </a:r>
          </a:p>
        </p:txBody>
      </p:sp>
    </p:spTree>
    <p:extLst>
      <p:ext uri="{BB962C8B-B14F-4D97-AF65-F5344CB8AC3E}">
        <p14:creationId xmlns:p14="http://schemas.microsoft.com/office/powerpoint/2010/main" val="1552501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E73D51-1DB5-4CB8-9790-E9983235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rPr>
              <a:t>01  设计目标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4A9B8-6069-4668-8E6F-7F39EC07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问题定义与系统边界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3D99B-2B0E-49BB-88DE-E3789D52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E417A-C546-4D8B-AD8B-D69863A3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DFFE09-02C3-476B-B293-6299B368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>
            <a:defPPr algn="l">
              <a:defRPr sz="21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从异常会话定位到可追溯证据报告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5EF8F-08DC-4CE4-8513-FB08F5C9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3714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rPr>
              <a:t>异常分数与阈值可复现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rPr>
              <a:t>每条诊断引用可点击证据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rPr>
              <a:t>高风险和不确定结果转人工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F23F0-6621-467D-B88B-78EA586F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3714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2DE"/>
          </a:solidFill>
          <a:ln xmlns:a="http://schemas.openxmlformats.org/drawingml/2006/main" w="9525">
            <a:solidFill>
              <a:srgbClr val="EECF9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E4099-8A9D-4A7B-A2C7-4822CA50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91125"/>
            <a:ext cx="3295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8A552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8A55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A5520"/>
                </a:solidFill>
                <a:latin typeface="Microsoft YaHei"/>
                <a:ea typeface="Microsoft YaHei"/>
                <a:cs typeface="Microsoft YaHei"/>
              </a:rPr>
              <a:t>边界：无真实根因标签，不执行运维动作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AF4B8-9810-4F85-8338-C0F06FBB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0300"/>
            <a:ext cx="13525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E8F1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5DA15-1FAB-44DC-BEF8-82B0AC48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66975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日志与会话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B7F90-579C-4107-8708-CD72E8B7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00300"/>
            <a:ext cx="13525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2F7F3"/>
          </a:solidFill>
          <a:ln xmlns:a="http://schemas.openxmlformats.org/drawingml/2006/main" w="9525">
            <a:solidFill>
              <a:srgbClr val="E2F7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D9335A-3EAC-41D5-87F0-06E36CE9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66975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异常检测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DE50A8-A8B4-475D-81F2-44090286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00300"/>
            <a:ext cx="13525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E8F1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B05602-2D79-49BE-AD20-650853A2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66975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证据检索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519562-43E2-48A1-BCD8-D082F5B4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00300"/>
            <a:ext cx="13525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2F7F3"/>
          </a:solidFill>
          <a:ln xmlns:a="http://schemas.openxmlformats.org/drawingml/2006/main" w="9525">
            <a:solidFill>
              <a:srgbClr val="E2F7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8FBF5A-AC49-4EEE-A79A-1191173F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466975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受控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516075-3F6D-48D9-9339-89963F93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479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95F928-803A-404A-BA7D-334DADE2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479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B98464-5875-4EC1-8141-E22949BA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479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50798A-C347-4395-AE93-BC729E13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194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时间隔离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FC191F-A253-4E79-B497-786B9B32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194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冻结阈值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DDC779-C815-4546-98C5-1F808B5F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194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引用门禁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E0C39B-03F0-4FA0-BE07-2023D309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2194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人工复核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876270-1922-4F57-A3A5-8A3E5733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719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SQLite 租约、幂等、审计与预算贯穿整条链路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FEA8BD-F5C2-4E70-AB97-83430237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62500"/>
            <a:ext cx="590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EABEC2-CB44-48DC-A56E-5C586622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>
            <a:defPPr algn="l">
              <a:defRPr sz="9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数据来自冻结实验结果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9D4011-9724-4120-B77C-9D538B07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 algn="r">
              <a:def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059925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3E75E9-647F-447E-B9DD-7DF86715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rPr>
              <a:t>02  W1–W2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9E93A-22B7-4BFC-818D-F21CAD92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可追溯数据协议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0A0DD-7E95-43BF-B968-9DA42AFA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57D5E-6BDD-4DB1-BF08-560F7EC0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3D8B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3D8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3D8BFF"/>
                </a:solidFill>
                <a:latin typeface="Microsoft YaHei"/>
                <a:ea typeface="Microsoft YaHei"/>
                <a:cs typeface="Microsoft YaHei"/>
              </a:rPr>
              <a:t>11.18M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88992-910A-4498-BB08-AFDF159B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原始日志行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5B0677-9B50-472B-9B37-2F2E1242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67640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rPr>
              <a:t>575,061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C23ED-DFD8-4300-A1F5-38DF3997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479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block 会话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FBC39-2DF6-498A-8787-FEDD7EB8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67640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6A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6A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A43A"/>
                </a:solidFill>
                <a:latin typeface="Microsoft YaHei"/>
                <a:ea typeface="Microsoft YaHei"/>
                <a:cs typeface="Microsoft YaHei"/>
              </a:rPr>
              <a:t>16,838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A0D0B9-3535-4FF8-A4E3-50F6DFCC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479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异常会话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C526B-EC05-4003-90DF-3E1EF3CF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7640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B0AF4A-6D8F-400D-9439-08F0F3B2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479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跨集合共享原始行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D2BD3D-BE88-4D4F-ACA1-E8C61235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15811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E8F1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AEB50D-7904-48E0-8F56-41526E79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下载校验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87E63E-A8B6-4198-B1BE-294B4D24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3857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5B3710-7185-4069-94F8-DEF89DC4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81400"/>
            <a:ext cx="15811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E8F1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F023B7-3845-4BA0-A4E2-77B891F1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48075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流式解析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16B3B9-21D3-4BF1-A267-905E859A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3857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A8A532-85C1-4754-9C0A-1100558B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81400"/>
            <a:ext cx="15811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E8F1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33A610-29D4-4232-9A6E-D8EB2EB2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648075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会话关联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961053-1471-4F4B-9511-9F1C33D5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3857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921B77-9C02-44B4-B780-8116928B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581400"/>
            <a:ext cx="15811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E8F1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8935D2-74E3-4051-8690-55D72AAB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48075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时间划分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8C0DC8-3978-46EA-9A7C-3D00A112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3857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78EBD3-7D6F-46CA-AD70-C389A4A4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581400"/>
            <a:ext cx="15811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8B3826-27C1-4045-9AD2-5B3CB5B6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48075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冻结协议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D9EBAF-87F2-46E6-890B-EF5ACC43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行号 + 字节偏移 + SHA-256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7CB935-BFBF-4092-A637-D8854CC8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36245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训练期拟合 Drain3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8E6564-4621-4395-A648-46208F75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6245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验证与测试只做 match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A624EC-23EF-4963-A9E1-C0462B42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D4213D-A558-4D38-B9BA-9ADDBD11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81625"/>
            <a:ext cx="1040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rPr>
              <a:t>标签不参与解析、模板拟合或自然抽样；训练与验证间仍有 164 种相同模板序列，需要谨慎解释高分。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005C34-8562-4850-914C-D3F8D421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>
            <a:defPPr algn="l">
              <a:defRPr sz="9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数据来自冻结实验结果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9475DE-D263-41BA-A84E-E6AAA60D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 algn="r">
              <a:def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373786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866822-B451-428E-9A65-65F5D43D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rPr>
              <a:t>03  W3–W4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FFC2DC-A091-4DEC-877C-2F5AF79E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默认模型选择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016D3-8682-4FCE-91B1-9ED69FB8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467CE89C-30DB-49BD-9F91-E7CB679F3600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6858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275bb8388f4a1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E6E87-276F-437B-BC1B-B9E9056F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52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98E29-B29E-4913-B886-8AAFB2B9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526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LR 保持默认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73F23-AB6D-42B9-AA49-1D4C7A97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385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rPr>
              <a:t>测试 F1 与 LSTM 基本持平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rPr>
              <a:t>CPU 部署简单，制品更小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rPr>
              <a:t>阈值与特征更容易审计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rPr>
              <a:t>LSTM 作为排序能力对照保留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60122-AF8A-4D39-8CAF-7FC0A932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578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冻结阈值  4.048591446044616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1F84D-7DCF-4C83-964D-83993D30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>
            <a:defPPr algn="l">
              <a:defRPr sz="9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一次性测试集结果，测试后未重新调参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4A159D-7B44-4827-8165-9BA1CCB4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 algn="r">
              <a:def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917491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69A342-B23B-4A41-AAFA-03FB187A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rPr>
              <a:t>04  W5–W6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C011C-E360-40B1-91B1-3D7C06B9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CPU 服务性能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EBC24-90BC-4FF0-95DA-04459FC1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C9EB0-6E12-4962-8184-C89C0A92E627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7239000" cy="3295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809750"/>
                <a:gridCol w="1809750"/>
                <a:gridCol w="1809750"/>
              </a:tblGrid>
              <a:tr h="65913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marL="95250" marR="95250" marT="57150" marB="57150" anchor="ctr">
                    <a:lnL w="9525">
                      <a:solidFill>
                        <a:srgbClr val="D8E1EA"/>
                      </a:solidFill>
                      <a:prstDash val="solid"/>
                    </a:lnL>
                    <a:lnR w="9525">
                      <a:solidFill>
                        <a:srgbClr val="D8E1EA"/>
                      </a:solidFill>
                      <a:prstDash val="solid"/>
                    </a:lnR>
                    <a:lnT w="9525">
                      <a:solidFill>
                        <a:srgbClr val="D8E1EA"/>
                      </a:solidFill>
                      <a:prstDash val="solid"/>
                    </a:lnT>
                    <a:lnB w="9525">
                      <a:solidFill>
                        <a:srgbClr val="D8E1EA"/>
                      </a:solidFill>
                      <a:prstDash val="solid"/>
                    </a:lnB>
                    <a:solidFill>
                      <a:srgbClr val="0814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规模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T w="9525">
                      <a:solidFill>
                        <a:srgbClr val="D8E1EA"/>
                      </a:solidFill>
                      <a:prstDash val="solid"/>
                    </a:lnT>
                    <a:lnB w="9525">
                      <a:solidFill>
                        <a:srgbClr val="D8E1EA"/>
                      </a:solidFill>
                      <a:prstDash val="solid"/>
                    </a:lnB>
                    <a:solidFill>
                      <a:srgbClr val="0814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P95 / 耗时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T w="9525">
                      <a:solidFill>
                        <a:srgbClr val="D8E1EA"/>
                      </a:solidFill>
                      <a:prstDash val="solid"/>
                    </a:lnT>
                    <a:lnB w="9525">
                      <a:solidFill>
                        <a:srgbClr val="D8E1EA"/>
                      </a:solidFill>
                      <a:prstDash val="solid"/>
                    </a:lnB>
                    <a:solidFill>
                      <a:srgbClr val="0814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吞吐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T w="9525">
                      <a:solidFill>
                        <a:srgbClr val="D8E1EA"/>
                      </a:solidFill>
                      <a:prstDash val="solid"/>
                    </a:lnT>
                    <a:lnB w="9525">
                      <a:solidFill>
                        <a:srgbClr val="D8E1EA"/>
                      </a:solidFill>
                      <a:prstDash val="solid"/>
                    </a:lnB>
                    <a:solidFill>
                      <a:srgbClr val="081421"/>
                    </a:solidFill>
                  </a:tcPr>
                </a:tc>
              </a:tr>
              <a:tr h="6591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LR 推理</a:t>
                      </a:r>
                    </a:p>
                  </a:txBody>
                  <a:tcPr marL="95250" marR="95250" marT="57150" marB="57150" anchor="ctr">
                    <a:lnL w="9525">
                      <a:solidFill>
                        <a:srgbClr val="D8E1EA"/>
                      </a:solidFill>
                      <a:prstDash val="solid"/>
                    </a:lnL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batch 128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1.852 ms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85,677 sessions/s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</a:tr>
              <a:tr h="6591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模板匹配</a:t>
                      </a:r>
                    </a:p>
                  </a:txBody>
                  <a:tcPr marL="95250" marR="95250" marT="57150" marB="57150" anchor="ctr">
                    <a:lnL w="9525">
                      <a:solidFill>
                        <a:srgbClr val="D8E1EA"/>
                      </a:solidFill>
                      <a:prstDash val="solid"/>
                    </a:lnL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1,000,000 行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31.177 s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32,074 lines/s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</a:tr>
              <a:tr h="6591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API 查询</a:t>
                      </a:r>
                    </a:p>
                  </a:txBody>
                  <a:tcPr marL="95250" marR="95250" marT="57150" marB="57150" anchor="ctr">
                    <a:lnL w="9525">
                      <a:solidFill>
                        <a:srgbClr val="D8E1EA"/>
                      </a:solidFill>
                      <a:prstDash val="solid"/>
                    </a:lnL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并发 4 × 100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16.027 ms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错误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</a:tr>
              <a:tr h="6591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容器启动</a:t>
                      </a:r>
                    </a:p>
                  </a:txBody>
                  <a:tcPr marL="95250" marR="95250" marT="57150" marB="57150" anchor="ctr">
                    <a:lnL w="9525">
                      <a:solidFill>
                        <a:srgbClr val="D8E1EA"/>
                      </a:solidFill>
                      <a:prstDash val="solid"/>
                    </a:lnL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次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13.212 s 中位数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热重启 1.990 s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4AE433-66A2-4002-993C-D1848FA3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52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rPr>
              <a:t>部署约束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46024-06F7-4ABF-9FC8-47CB3339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2952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rPr>
              <a:t>api / worker / ui 三服务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rPr>
              <a:t>单 worker 与 SQLite WAL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rPr>
              <a:t>模型和知识包只读挂载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rPr>
              <a:t>镜像不含 Torch 与 CUDA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E26A3-5DA9-4300-9CFF-3E9A71CD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76750"/>
            <a:ext cx="285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2F7F3"/>
          </a:solidFill>
          <a:ln xmlns:a="http://schemas.openxmlformats.org/drawingml/2006/main" w="9525">
            <a:solidFill>
              <a:srgbClr val="B8E8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778AF-E79A-40F2-9FF5-CB8EE544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91050"/>
            <a:ext cx="243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45"/>
          </a:bodyPr>
          <a:lstStyle xmlns:a="http://schemas.openxmlformats.org/drawingml/2006/main">
            <a:defPPr algn="ctr">
              <a:defRPr sz="142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W1 开发批次</a:t>
            </a:r>
          </a:p>
          <a:p xmlns:a="http://schemas.openxmlformats.org/drawingml/2006/main">
            <a:pPr algn="ctr">
              <a:defRPr sz="142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约 9.82 秒完成 10,000 会话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D7047-D840-4938-B3F3-DA7A24D1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>
            <a:defPPr algn="l">
              <a:defRPr sz="9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本机研究原型实测，不代表生产容量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2289B9-71B5-47E1-B4A2-85D6069F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 algn="r">
              <a:def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833450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DF1074-DA20-43C2-9DC0-3DBA54E0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rPr>
              <a:t>05  W7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1C4F7-3637-45F4-BE03-C5D8A665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混合检索与证据门禁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7B25F-7220-4E1D-8745-6F47E342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C68F9-992F-480C-8A39-6AF32161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524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E8F1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D2FE9-BDFC-401D-B0A1-C23E7ECE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7642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BM25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4962B9-1F3A-4C83-B509-9ECD10DD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524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2F7F3"/>
          </a:solidFill>
          <a:ln xmlns:a="http://schemas.openxmlformats.org/drawingml/2006/main" w="9525">
            <a:solidFill>
              <a:srgbClr val="E2F7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FB018-BBE5-4795-BDDE-28A6555E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BGE ONNX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F05F8-5EE5-46C9-80A4-E21D6FF5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574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93956F-A1C6-4334-BAFD-C3FAF242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956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3BE39C-7F4F-493C-B7AD-3086AF96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28850"/>
            <a:ext cx="1771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3E9424-A49F-44B1-BCB5-CCBC6804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95525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RRF Hybrid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96585-F82A-43E6-90D4-CFD333AF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765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EC623-751C-432A-862E-DE8AB91D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28850"/>
            <a:ext cx="1771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2DE"/>
          </a:solidFill>
          <a:ln xmlns:a="http://schemas.openxmlformats.org/drawingml/2006/main" w="9525">
            <a:solidFill>
              <a:srgbClr val="FFF2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B318CC-DBD1-41E5-BACE-E93EF750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95525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Top-3 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6EF49-12D1-485A-A50B-85CEF5AD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30 篇原创知识卡片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D8217B-9AEA-4275-814F-8A17A53A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24 篇 HDFS，6 篇通用运维安全</a:t>
            </a:r>
          </a:p>
        </p:txBody>
      </p:sp>
      <p:graphicFrame>
        <p:nvGraphicFrame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88E4A1-5B2E-41DF-9D5C-B4F24B66A833}"/>
              </a:ext>
            </a:extLst>
          </p:cNvPr>
          <p:cNvGraphicFramePr/>
          <p:nvPr/>
        </p:nvGraphicFramePr>
        <p:xfrm>
          <a:off xmlns:a="http://schemas.openxmlformats.org/drawingml/2006/main" x="7524750" y="1752600"/>
          <a:ext xmlns:a="http://schemas.openxmlformats.org/drawingml/2006/main" cx="398145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95363"/>
                <a:gridCol w="995363"/>
                <a:gridCol w="995363"/>
                <a:gridCol w="995363"/>
              </a:tblGrid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Rtest</a:t>
                      </a:r>
                    </a:p>
                  </a:txBody>
                  <a:tcPr marL="95250" marR="95250" marT="57150" marB="57150" anchor="ctr">
                    <a:lnL w="9525">
                      <a:solidFill>
                        <a:srgbClr val="D8E1EA"/>
                      </a:solidFill>
                      <a:prstDash val="solid"/>
                    </a:lnL>
                    <a:lnR w="9525">
                      <a:solidFill>
                        <a:srgbClr val="D8E1EA"/>
                      </a:solidFill>
                      <a:prstDash val="solid"/>
                    </a:lnR>
                    <a:lnT w="9525">
                      <a:solidFill>
                        <a:srgbClr val="D8E1EA"/>
                      </a:solidFill>
                      <a:prstDash val="solid"/>
                    </a:lnT>
                    <a:lnB w="9525">
                      <a:solidFill>
                        <a:srgbClr val="D8E1EA"/>
                      </a:solidFill>
                      <a:prstDash val="solid"/>
                    </a:lnB>
                    <a:solidFill>
                      <a:srgbClr val="0814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Recall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T w="9525">
                      <a:solidFill>
                        <a:srgbClr val="D8E1EA"/>
                      </a:solidFill>
                      <a:prstDash val="solid"/>
                    </a:lnT>
                    <a:lnB w="9525">
                      <a:solidFill>
                        <a:srgbClr val="D8E1EA"/>
                      </a:solidFill>
                      <a:prstDash val="solid"/>
                    </a:lnB>
                    <a:solidFill>
                      <a:srgbClr val="0814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MRR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T w="9525">
                      <a:solidFill>
                        <a:srgbClr val="D8E1EA"/>
                      </a:solidFill>
                      <a:prstDash val="solid"/>
                    </a:lnT>
                    <a:lnB w="9525">
                      <a:solidFill>
                        <a:srgbClr val="D8E1EA"/>
                      </a:solidFill>
                      <a:prstDash val="solid"/>
                    </a:lnB>
                    <a:solidFill>
                      <a:srgbClr val="0814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nDCG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T w="9525">
                      <a:solidFill>
                        <a:srgbClr val="D8E1EA"/>
                      </a:solidFill>
                      <a:prstDash val="solid"/>
                    </a:lnT>
                    <a:lnB w="9525">
                      <a:solidFill>
                        <a:srgbClr val="D8E1EA"/>
                      </a:solidFill>
                      <a:prstDash val="solid"/>
                    </a:lnB>
                    <a:solidFill>
                      <a:srgbClr val="081421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BM25</a:t>
                      </a:r>
                    </a:p>
                  </a:txBody>
                  <a:tcPr marL="95250" marR="95250" marT="57150" marB="57150" anchor="ctr">
                    <a:lnL w="9525">
                      <a:solidFill>
                        <a:srgbClr val="D8E1EA"/>
                      </a:solidFill>
                      <a:prstDash val="solid"/>
                    </a:lnL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0.975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0.9063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0.7633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Dense</a:t>
                      </a:r>
                    </a:p>
                  </a:txBody>
                  <a:tcPr marL="95250" marR="95250" marT="57150" marB="57150" anchor="ctr">
                    <a:lnL w="9525">
                      <a:solidFill>
                        <a:srgbClr val="D8E1EA"/>
                      </a:solidFill>
                      <a:prstDash val="solid"/>
                    </a:lnL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0.975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0.9083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0.7648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322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Hybrid</a:t>
                      </a:r>
                    </a:p>
                  </a:txBody>
                  <a:tcPr marL="95250" marR="95250" marT="57150" marB="57150" anchor="ctr">
                    <a:lnL w="9525">
                      <a:solidFill>
                        <a:srgbClr val="D8E1EA"/>
                      </a:solidFill>
                      <a:prstDash val="solid"/>
                    </a:lnL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  <a:solidFill>
                      <a:srgbClr val="E2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322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0.975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  <a:solidFill>
                      <a:srgbClr val="E2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322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0.9375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  <a:solidFill>
                      <a:srgbClr val="E2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322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0.7827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  <a:solidFill>
                      <a:srgbClr val="E2F7F3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AA6373-AD6E-4ABD-A8B5-94A71E05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8E71B0-3825-4C7E-92AE-B9F6B34D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rPr>
              <a:t>Rdev 无答案误返回 10%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75044D-7006-4181-88A4-9533C306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1244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6A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6A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6A43A"/>
                </a:solidFill>
                <a:latin typeface="Microsoft YaHei"/>
                <a:ea typeface="Microsoft YaHei"/>
                <a:cs typeface="Microsoft YaHei"/>
              </a:rPr>
              <a:t>Rtest 无答案误返回 20%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E932BF-35AF-44A2-9EA3-F4D619B3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244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未用 Rtest 反向调门禁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A6B66D-FDAE-407E-84DD-6075BD21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>
            <a:defPPr algn="l">
              <a:defRPr sz="9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数据来自冻结实验结果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8D503F-6B84-4CCC-957C-C2BE3358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 algn="r">
              <a:def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647035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285D41-C948-4177-86C0-F9342539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rPr>
              <a:t>06  W8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964E4-00D3-4061-A526-F6DA2717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证据约束报告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1BA1F-A7F4-47BA-A559-764834D1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1CF59-FBA4-4B60-AF39-F9919163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600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E8F1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E11EC-A01E-4060-8869-848361D0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用户问题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368B4-2147-4827-BA78-6C45406C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860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01DD2-7846-4420-9829-6B415B73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38350"/>
            <a:ext cx="1600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E8F1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F87DB-4C66-4AFB-9997-69F6D191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05025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证据门禁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B60686-754F-4C03-A102-BF14DB20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860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225B1-1E05-4FB1-A994-C2A4E0A0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38350"/>
            <a:ext cx="1600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0A642-E8FD-4EF3-AE1A-DDDF30D6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05025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DeepSeek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4785E-C476-4EF2-9DA0-C3B25CBE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860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5BD18-CD73-443A-82A8-3B24994D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38350"/>
            <a:ext cx="1600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E8F1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D0D194-1F19-4627-A5B7-74669ACA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05025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Schema 校验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127A55-FAC4-4AE4-9A73-D6B72538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860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799110-4B88-4658-835E-BC9A4FD3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38350"/>
            <a:ext cx="1600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E8F1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47EB58-507C-4555-93AA-4444CAD2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05025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报告或降级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881527-2C5D-4C8D-BC1A-56BFFC95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6A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6A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6A43A"/>
                </a:solidFill>
                <a:latin typeface="Microsoft YaHei"/>
                <a:ea typeface="Microsoft YaHei"/>
                <a:cs typeface="Microsoft YaHei"/>
              </a:rPr>
              <a:t>无证据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98CACA-6085-48A6-9161-11B58173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rPr>
              <a:t>0 次 LLM 调用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EE48A9-0105-4B10-B721-26CF2095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671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6A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6A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6A43A"/>
                </a:solidFill>
                <a:latin typeface="Microsoft YaHei"/>
                <a:ea typeface="Microsoft YaHei"/>
                <a:cs typeface="Microsoft YaHei"/>
              </a:rPr>
              <a:t>非法引用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5AC6A8-D254-4638-A860-12B94342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481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rPr>
              <a:t>拒绝输出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41FB9F-BD91-463D-A785-0531988C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671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6A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6A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6A43A"/>
                </a:solidFill>
                <a:latin typeface="Microsoft YaHei"/>
                <a:ea typeface="Microsoft YaHei"/>
                <a:cs typeface="Microsoft YaHei"/>
              </a:rPr>
              <a:t>坏 JSON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4DC14C-800B-47DD-8C62-4D7A89A0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481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rPr>
              <a:t>最多修复一次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197A7B-9406-4BEB-8F2D-9CD8EF5B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671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6A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6A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6A43A"/>
                </a:solidFill>
                <a:latin typeface="Microsoft YaHei"/>
                <a:ea typeface="Microsoft YaHei"/>
                <a:cs typeface="Microsoft YaHei"/>
              </a:rPr>
              <a:t>仍不合格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5E7D52-F0A8-4B16-9929-4F84C356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481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rPr>
              <a:t>确定性模板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BF58DC-3F10-48E2-A61F-6302D557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8204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81421"/>
          </a:solidFill>
          <a:ln xmlns:a="http://schemas.openxmlformats.org/drawingml/2006/main" w="9525">
            <a:solidFill>
              <a:srgbClr val="08142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C8B855-A22E-43DA-ACEF-ED2B3D58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默认离线模式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CEEF3B-2AFF-466D-8A2A-5815CA27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530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rPr>
              <a:t>在线模式显式挂载 Secret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BE0753-9F3C-40EC-9728-7F1FBA49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53000"/>
            <a:ext cx="3790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所有报告 requires_review=true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032803-D440-4051-8D86-5BFA66DB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>
            <a:defPPr algn="l">
              <a:defRPr sz="9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数据来自冻结实验结果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695A53-CB14-49B8-BAE6-46B9331E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 algn="r">
              <a:def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946259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FC7690-B461-4777-9E68-8008A4D7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rPr>
              <a:t>07  W9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A7D1D-3200-4E88-801D-4D7DAECD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受控单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2858F-EDDF-4C75-A284-EF18DB6A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3494C-2B7B-436A-86DC-D8F1CD90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1238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E8F1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DD949-D916-4C98-BC60-6293C3B5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接收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AB3C0-11B0-4B54-85FD-5405C1F2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0383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478AE-3582-4179-BE63-F3EA8457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790700"/>
            <a:ext cx="1238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E8F1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11578-9CE5-4F48-B28D-E49ACF4A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857375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核验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8DA778-AAC1-4322-81F7-66235AA7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383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61C30-05CC-4F81-AEE6-649FD328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790700"/>
            <a:ext cx="1238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E8F1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5E77BB-9BDB-4A37-9A5E-54DA261B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857375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检测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3B8A67-B5CB-498F-94F1-E2493A7F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383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1255F-9CB6-49A7-86F7-63485493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90700"/>
            <a:ext cx="1238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E8F1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759AC3-A302-4A50-95E3-6344B546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57375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收集证据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2F1BA0-B35F-4901-AA8A-2BA86C09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8EE47C-363F-4C09-AEAC-FB663DCE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790700"/>
            <a:ext cx="1238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E8F1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3BF87E-AB70-4917-B2A2-EA7ECEA6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57375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检索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7EC6A9-7ADB-4EDA-99AC-9272DDC6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383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4E5E1B-6746-4F45-B4A9-4BB44AF1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90700"/>
            <a:ext cx="1238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E8F1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DEE179-DFE6-468B-9552-5BDEA214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57375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候选排序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88C9F0-2E48-48D7-830C-014246B3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383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757FAA-FCA8-4861-9298-334D90AF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790700"/>
            <a:ext cx="1238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5F661E-67B4-4991-A600-6A09BBC0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857375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报告校验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DDFB1D-39FE-4359-BE45-F47CC11C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71850"/>
            <a:ext cx="2095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2F7F3"/>
          </a:solidFill>
          <a:ln xmlns:a="http://schemas.openxmlformats.org/drawingml/2006/main" w="9525">
            <a:solidFill>
              <a:srgbClr val="E2F7F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C8A7E9-4725-4A12-AE0B-4FD581C1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43852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COMPLETED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EB3C5E-359E-44FF-A1E0-4F3005F6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71850"/>
            <a:ext cx="2095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2DE"/>
          </a:solidFill>
          <a:ln xmlns:a="http://schemas.openxmlformats.org/drawingml/2006/main" w="9525">
            <a:solidFill>
              <a:srgbClr val="FFF2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7C159A-037B-4FE6-A084-279B97E4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3852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WAITING_REVIEW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F6EFA4-3BC2-4CC6-B309-7E54E0FF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71850"/>
            <a:ext cx="2095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CE7E8"/>
          </a:solidFill>
          <a:ln xmlns:a="http://schemas.openxmlformats.org/drawingml/2006/main" w="9525">
            <a:solidFill>
              <a:srgbClr val="FCE7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909889-1D4A-4438-A8B0-032387EF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3852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FAILED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64770E-E190-40CF-8B9B-F8F7469C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38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76EFFA-F2DF-44FA-8CE0-2AEAC7BC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确定性必需节点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66BBAE-0E9B-4AB5-99C1-B186E150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rPr>
              <a:t>异常核验与脱敏日志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rPr>
              <a:t>冻结知识检索与候选排序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1C80BF-9ABE-477E-8599-05E31919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48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每 revision 硬限制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9F5DB8-589A-4095-9F74-3543719F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292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rPr>
              <a:t>8 次工具、3 次 LLM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rPr>
              <a:t>12,000 tokens、120 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8C88D3-2C50-41FC-96FF-E19E2156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48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动作边界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EF5E35-F30F-41A3-B1AF-918C5BE7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292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rPr>
              <a:t>所有工具只读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rPr>
              <a:t>execution_allowed=false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E82984-20F6-4E7B-9152-51435783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>
            <a:defPPr algn="l">
              <a:defRPr sz="9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数据来自冻结实验结果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000677-8963-44E6-B115-8A59913D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 algn="r">
              <a:def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544486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741564-D35A-48FE-BCEC-817AF4FE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rPr>
              <a:t>08  W10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232F7-6275-4504-B74D-63021FB7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Atest 三轮在线评测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74CCE-49FD-4239-8D94-AF457D53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4A4B215-FBDC-424D-9781-48DCE85E2E9A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6858000" cy="3848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4693c77c5e499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A46FE-C4F7-4841-AF66-CDBC3B9E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3D8B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3D8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3D8BFF"/>
                </a:solidFill>
                <a:latin typeface="Microsoft YaHei"/>
                <a:ea typeface="Microsoft YaHei"/>
                <a:cs typeface="Microsoft YaHei"/>
              </a:rPr>
              <a:t>120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54CEC-A530-4F50-8177-778DE1F0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241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真实在线案例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918C8-9C08-4C2C-8FB8-582043B3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41A578-9DA6-42FB-8517-82DC8932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强制复核 Recall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FBBC94-AC03-4543-A363-50C95F10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4810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AB5C7-57E1-4BF3-A911-580BCE08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196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有效引用率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A80409-0C14-43DB-BDA4-F73538B5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673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总成本  ¥0.426384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E15A6C-84DA-43E8-880E-9990CC8D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4483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可选 LLM 路由保持关闭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E1EA61-F632-4BF8-AC8C-72FCFE7B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>
            <a:defPPr algn="l">
              <a:defRPr sz="9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40 个独立案例，固定顺序，评测期间不调参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9D00D1-B7BA-4C5D-AB0D-6D2B06B1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 algn="r">
              <a:def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898644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A2911E-DD59-4E09-8C0F-11B972F1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rPr>
              <a:t>09  工程保证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4FBD2-22E2-4400-8342-656E0189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安全与恢复门禁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4A43C-2FDB-4817-92AF-F89B3A6E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7617C-CD0F-47C1-8D22-19911320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E8F1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1B14A-C69A-4A17-B24C-73991B54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62125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权限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30A02B-4FA1-4A6B-9B5F-3429EC7C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762125"/>
            <a:ext cx="870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rPr>
              <a:t>工具只读，动作执行入口不存在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BE9B8-B171-4D87-872A-F877BC9D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8204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2F7F3"/>
          </a:solidFill>
          <a:ln xmlns:a="http://schemas.openxmlformats.org/drawingml/2006/main" w="9525">
            <a:solidFill>
              <a:srgbClr val="E2F7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584A0-F240-454D-A80E-B2337960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43175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引用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931F1B-A835-4462-A01A-5F623521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43175"/>
            <a:ext cx="870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rPr>
              <a:t>仅允许当次检索返回的 chunk_id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F29590-45B5-4673-B8DA-15F63368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8204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2DE"/>
          </a:solidFill>
          <a:ln xmlns:a="http://schemas.openxmlformats.org/drawingml/2006/main" w="9525">
            <a:solidFill>
              <a:srgbClr val="FFF2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04EFE-8A31-4C09-981B-A971F696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24225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预算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C73164-5AB5-4A3A-8338-3C726796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324225"/>
            <a:ext cx="870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rPr>
              <a:t>请求前原子预留，崩溃后保守结算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D7A5B3-7CC0-4C1F-8CB6-0C49F31F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8204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E8F1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BB1E65-BD12-4D26-A927-7BBA865C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05275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审批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DB12C2-D7CD-4892-91E3-9A573927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05275"/>
            <a:ext cx="870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rPr>
              <a:t>绑定 report hash、revision 与 action IDs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4A2C2D-BB2E-4B9C-A00C-1FF37EBA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2F7F3"/>
          </a:solidFill>
          <a:ln xmlns:a="http://schemas.openxmlformats.org/drawingml/2006/main" w="9525">
            <a:solidFill>
              <a:srgbClr val="E2F7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F4C968-5FEB-4070-BCFB-5773A90B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86325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C824DA-FC6A-4986-B104-A729CDD8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886325"/>
            <a:ext cx="870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rPr>
              <a:t>租约过期后单次恢复，旧 worker 不能提交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3D1206-60DB-46E0-9677-01F2BC6C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81421"/>
          </a:solidFill>
          <a:ln xmlns:a="http://schemas.openxmlformats.org/drawingml/2006/main" w="9525">
            <a:solidFill>
              <a:srgbClr val="0814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32EFCD-74A7-4D61-B1D9-9673A466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00725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强制复核漏转 0     越权工具 0     写操作 0     无效引用通过 0     预算突破 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1F6DC0-5E55-4773-A0EF-7BCE9BC0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>
            <a:defPPr algn="l">
              <a:defRPr sz="9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数据来自冻结实验结果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571A36-1D3E-48ED-B8C2-42D0568F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 algn="r">
              <a:def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612036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B369DF-CDC0-49B3-BB4F-DD9A102F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rPr>
              <a:t>10  Release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167C6-D9D6-47FF-9706-5D25FAB1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v1.0 发布验收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42E2C-8E6C-4CBA-8969-8F83C4FC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A0C4B-D093-46F8-A814-778960E33C43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72390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13000"/>
                <a:gridCol w="2413000"/>
                <a:gridCol w="2413000"/>
              </a:tblGrid>
              <a:tr h="55789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门禁</a:t>
                      </a:r>
                    </a:p>
                  </a:txBody>
                  <a:tcPr marL="95250" marR="95250" marT="57150" marB="57150" anchor="ctr">
                    <a:lnL w="9525">
                      <a:solidFill>
                        <a:srgbClr val="D8E1EA"/>
                      </a:solidFill>
                      <a:prstDash val="solid"/>
                    </a:lnL>
                    <a:lnR w="9525">
                      <a:solidFill>
                        <a:srgbClr val="D8E1EA"/>
                      </a:solidFill>
                      <a:prstDash val="solid"/>
                    </a:lnR>
                    <a:lnT w="9525">
                      <a:solidFill>
                        <a:srgbClr val="D8E1EA"/>
                      </a:solidFill>
                      <a:prstDash val="solid"/>
                    </a:lnT>
                    <a:lnB w="9525">
                      <a:solidFill>
                        <a:srgbClr val="D8E1EA"/>
                      </a:solidFill>
                      <a:prstDash val="solid"/>
                    </a:lnB>
                    <a:solidFill>
                      <a:srgbClr val="0814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T w="9525">
                      <a:solidFill>
                        <a:srgbClr val="D8E1EA"/>
                      </a:solidFill>
                      <a:prstDash val="solid"/>
                    </a:lnT>
                    <a:lnB w="9525">
                      <a:solidFill>
                        <a:srgbClr val="D8E1EA"/>
                      </a:solidFill>
                      <a:prstDash val="solid"/>
                    </a:lnB>
                    <a:solidFill>
                      <a:srgbClr val="0814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T w="9525">
                      <a:solidFill>
                        <a:srgbClr val="D8E1EA"/>
                      </a:solidFill>
                      <a:prstDash val="solid"/>
                    </a:lnT>
                    <a:lnB w="9525">
                      <a:solidFill>
                        <a:srgbClr val="D8E1EA"/>
                      </a:solidFill>
                      <a:prstDash val="solid"/>
                    </a:lnB>
                    <a:solidFill>
                      <a:srgbClr val="081421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回归测试</a:t>
                      </a:r>
                    </a:p>
                  </a:txBody>
                  <a:tcPr marL="95250" marR="95250" marT="57150" marB="57150" anchor="ctr">
                    <a:lnL w="9525">
                      <a:solidFill>
                        <a:srgbClr val="D8E1EA"/>
                      </a:solidFill>
                      <a:prstDash val="solid"/>
                    </a:lnL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87A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  <a:solidFill>
                      <a:srgbClr val="E2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 项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全新环境</a:t>
                      </a:r>
                    </a:p>
                  </a:txBody>
                  <a:tcPr marL="95250" marR="95250" marT="57150" marB="57150" anchor="ctr">
                    <a:lnL w="9525">
                      <a:solidFill>
                        <a:srgbClr val="D8E1EA"/>
                      </a:solidFill>
                      <a:prstDash val="solid"/>
                    </a:lnL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87A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  <a:solidFill>
                      <a:srgbClr val="E2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 3.11.17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无缓存 Compose</a:t>
                      </a:r>
                    </a:p>
                  </a:txBody>
                  <a:tcPr marL="95250" marR="95250" marT="57150" marB="57150" anchor="ctr">
                    <a:lnL w="9525">
                      <a:solidFill>
                        <a:srgbClr val="D8E1EA"/>
                      </a:solidFill>
                      <a:prstDash val="solid"/>
                    </a:lnL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87A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  <a:solidFill>
                      <a:srgbClr val="E2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三服务 healthy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离线与在线</a:t>
                      </a:r>
                    </a:p>
                  </a:txBody>
                  <a:tcPr marL="95250" marR="95250" marT="57150" marB="57150" anchor="ctr">
                    <a:lnL w="9525">
                      <a:solidFill>
                        <a:srgbClr val="D8E1EA"/>
                      </a:solidFill>
                      <a:prstDash val="solid"/>
                    </a:lnL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87A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  <a:solidFill>
                      <a:srgbClr val="E2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安全降级可审计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重启持久化</a:t>
                      </a:r>
                    </a:p>
                  </a:txBody>
                  <a:tcPr marL="95250" marR="95250" marT="57150" marB="57150" anchor="ctr">
                    <a:lnL w="9525">
                      <a:solidFill>
                        <a:srgbClr val="D8E1EA"/>
                      </a:solidFill>
                      <a:prstDash val="solid"/>
                    </a:lnL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87A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  <a:solidFill>
                      <a:srgbClr val="E2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无重复工具调用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敏感信息扫描</a:t>
                      </a:r>
                    </a:p>
                  </a:txBody>
                  <a:tcPr marL="95250" marR="95250" marT="57150" marB="57150" anchor="ctr">
                    <a:lnL w="9525">
                      <a:solidFill>
                        <a:srgbClr val="D8E1EA"/>
                      </a:solidFill>
                      <a:prstDash val="solid"/>
                    </a:lnL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87A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  <a:solidFill>
                      <a:srgbClr val="E2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4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命中</a:t>
                      </a:r>
                    </a:p>
                  </a:txBody>
                  <a:tcPr marL="95250" marR="95250" marT="57150" marB="57150" anchor="ctr">
                    <a:lnR w="9525">
                      <a:solidFill>
                        <a:srgbClr val="D8E1EA"/>
                      </a:solidFill>
                      <a:prstDash val="solid"/>
                    </a:lnR>
                    <a:lnB w="9525">
                      <a:solidFill>
                        <a:srgbClr val="D8E1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0BEE6-3221-43CF-A678-28120F9E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43100"/>
            <a:ext cx="2705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rPr>
              <a:t>RELEASED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F2264-1EDA-48F6-A6EE-88881BF7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4795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v1.0-rc2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6E1DD-A78A-40DF-9D30-A1AE93C2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14700"/>
            <a:ext cx="2743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76163-53A6-4AB0-A44B-21439382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814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>
            <a:defPPr algn="ctr">
              <a:defRPr sz="1200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候选哈希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F6C26-5988-404C-B4B0-AF1540D3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2430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3344B"/>
                </a:solidFill>
                <a:latin typeface="Microsoft YaHei"/>
                <a:ea typeface="Microsoft YaHei"/>
                <a:cs typeface="Microsoft YaHei"/>
              </a:rPr>
              <a:t>04591f6e…401d4c1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8F9284-6CC1-4869-9A41-E7B0FE01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8630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验收容器与卷已清理</a:t>
            </a:r>
          </a:p>
          <a:p xmlns:a="http://schemas.openxmlformats.org/drawingml/2006/main">
            <a:pPr algn="ctr">
              <a:defRPr sz="13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2238"/>
                </a:solidFill>
                <a:latin typeface="Microsoft YaHei"/>
                <a:ea typeface="Microsoft YaHei"/>
                <a:cs typeface="Microsoft YaHei"/>
              </a:rPr>
              <a:t>现有服务未受影响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7021BC-319F-457C-AE19-F69BEE25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>
            <a:defPPr algn="l">
              <a:defRPr sz="9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数据来自冻结实验结果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A72D1-6F7E-4091-BA4E-3D93C719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>
            <a:defPPr algn="r">
              <a:def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393454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65EC9-4716-4985-90DE-D75405BC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9E737-FFED-4B04-B481-177AA9CD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9525">
            <a:solidFill>
              <a:srgbClr val="12B8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7AE01-5565-45F3-A0F8-3BF70D06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v1.0 的安全与复现门禁已经通过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B1F5E-6091-4EB1-95B8-EA0A5A90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9C8D9"/>
                </a:solidFill>
                <a:latin typeface="Microsoft YaHei"/>
                <a:ea typeface="Microsoft YaHei"/>
                <a:cs typeface="Microsoft YaHei"/>
              </a:rPr>
              <a:t>当前定位：单机、CPU、可审计的研究演示版本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F6FC6-35E8-48BF-83F7-BE27668D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rPr>
              <a:t>校准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1DEEA-E680-43AB-96F6-A506F3EA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05200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扩充跨时间、跨版本开发集，降低无答案误返回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3054F-FADB-4901-88FC-6E34D2A0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rPr>
              <a:t>真值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160297-7C02-477B-ABC5-BC6329D8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86250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引入真实工单与根因标签，评估根因排序和 MTTD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38776D-7BAF-4097-A999-C7DC0E24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rPr>
              <a:t>生产化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6C1DBC-E382-4DA8-994C-2CF49CCC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67300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补充企业身份、TLS、外部存储和多机容量验证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7D8EA2-E37E-4447-B093-EA28D081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8EA2B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8EA2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8EA2B7"/>
                </a:solidFill>
                <a:latin typeface="Microsoft YaHei"/>
                <a:ea typeface="Microsoft YaHei"/>
                <a:cs typeface="Microsoft YaHei"/>
              </a:rPr>
              <a:t>不宣称自动处置、生产高可用或跨系统泛化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1B067D-4474-48C7-B54D-3186520C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715000"/>
            <a:ext cx="1219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25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25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B8A6"/>
                </a:solidFill>
                <a:latin typeface="Microsoft YaHei"/>
                <a:ea typeface="Microsoft YaHei"/>
                <a:cs typeface="Microsoft YaHei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6655505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2026-10-15T10:51:29.1240000Z</dcterms:created>
  <dcterms:modified xsi:type="dcterms:W3CDTF">2026-10-15T10:51:29.1240000Z</dcterms:modified>
</coreProperties>
</file>